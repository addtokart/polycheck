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51c7a38e44739" /><Relationship Type="http://schemas.openxmlformats.org/officeDocument/2006/relationships/extended-properties" Target="/docProps/app.xml" Id="R92c02633af8a4284" /><Relationship Type="http://schemas.openxmlformats.org/officeDocument/2006/relationships/officeDocument" Target="/ppt/presentation.xml" Id="R73b24cc603964b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1624e89504728"/>
  </p:sldMasterIdLst>
  <p:notesMasterIdLst>
    <p:notesMasterId xmlns:r="http://schemas.openxmlformats.org/officeDocument/2006/relationships" r:id="R786e5ada458341ec"/>
  </p:notesMasterIdLst>
  <p:sldIdLst>
    <p:sldId xmlns:r="http://schemas.openxmlformats.org/officeDocument/2006/relationships" id="256" r:id="R04e8c50f31f84540"/>
    <p:sldId xmlns:r="http://schemas.openxmlformats.org/officeDocument/2006/relationships" id="257" r:id="R4641b982b24e4785"/>
    <p:sldId xmlns:r="http://schemas.openxmlformats.org/officeDocument/2006/relationships" id="258" r:id="R0c6bbdbee19c44d9"/>
    <p:sldId xmlns:r="http://schemas.openxmlformats.org/officeDocument/2006/relationships" id="259" r:id="Raffab93c1daa47ad"/>
    <p:sldId xmlns:r="http://schemas.openxmlformats.org/officeDocument/2006/relationships" id="260" r:id="R1706085dccd748a0"/>
    <p:sldId xmlns:r="http://schemas.openxmlformats.org/officeDocument/2006/relationships" id="261" r:id="R499f69e3e39e4672"/>
    <p:sldId xmlns:r="http://schemas.openxmlformats.org/officeDocument/2006/relationships" id="262" r:id="R3f9c7de758594972"/>
    <p:sldId xmlns:r="http://schemas.openxmlformats.org/officeDocument/2006/relationships" id="263" r:id="R1e75ffe8193a4d70"/>
    <p:sldId xmlns:r="http://schemas.openxmlformats.org/officeDocument/2006/relationships" id="264" r:id="R2242ff768eca4898"/>
    <p:sldId xmlns:r="http://schemas.openxmlformats.org/officeDocument/2006/relationships" id="265" r:id="R3097f48ad1514d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c102a9deab4a3c" /><Relationship Type="http://schemas.openxmlformats.org/officeDocument/2006/relationships/slideMaster" Target="/ppt/slideMasters/slideMaster1.xml" Id="Rd491624e89504728" /><Relationship Type="http://schemas.openxmlformats.org/officeDocument/2006/relationships/notesMaster" Target="/ppt/notesMasters/notesMaster1.xml" Id="R786e5ada458341ec" /><Relationship Type="http://schemas.openxmlformats.org/officeDocument/2006/relationships/presProps" Target="/ppt/presProps.xml" Id="Rf3a44530659543c3" /><Relationship Type="http://schemas.openxmlformats.org/officeDocument/2006/relationships/tableStyles" Target="/ppt/tableStyles.xml" Id="R9bdb418dcd5d438a" /><Relationship Type="http://schemas.openxmlformats.org/officeDocument/2006/relationships/slide" Target="/ppt/slides/slide1.xml" Id="R04e8c50f31f84540" /><Relationship Type="http://schemas.openxmlformats.org/officeDocument/2006/relationships/slide" Target="/ppt/slides/slide2.xml" Id="R4641b982b24e4785" /><Relationship Type="http://schemas.openxmlformats.org/officeDocument/2006/relationships/slide" Target="/ppt/slides/slide3.xml" Id="R0c6bbdbee19c44d9" /><Relationship Type="http://schemas.openxmlformats.org/officeDocument/2006/relationships/slide" Target="/ppt/slides/slide4.xml" Id="Raffab93c1daa47ad" /><Relationship Type="http://schemas.openxmlformats.org/officeDocument/2006/relationships/slide" Target="/ppt/slides/slide5.xml" Id="R1706085dccd748a0" /><Relationship Type="http://schemas.openxmlformats.org/officeDocument/2006/relationships/slide" Target="/ppt/slides/slide6.xml" Id="R499f69e3e39e4672" /><Relationship Type="http://schemas.openxmlformats.org/officeDocument/2006/relationships/slide" Target="/ppt/slides/slide7.xml" Id="R3f9c7de758594972" /><Relationship Type="http://schemas.openxmlformats.org/officeDocument/2006/relationships/slide" Target="/ppt/slides/slide8.xml" Id="R1e75ffe8193a4d70" /><Relationship Type="http://schemas.openxmlformats.org/officeDocument/2006/relationships/slide" Target="/ppt/slides/slide9.xml" Id="R2242ff768eca4898" /><Relationship Type="http://schemas.openxmlformats.org/officeDocument/2006/relationships/slide" Target="/ppt/slides/slide10.xml" Id="R3097f48ad151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412053482d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5db5817464b83" /><Relationship Type="http://schemas.openxmlformats.org/officeDocument/2006/relationships/notesMaster" Target="/ppt/notesMasters/notesMaster1.xml" Id="R7219cd7ea23146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c3664793dc4108" /><Relationship Type="http://schemas.openxmlformats.org/officeDocument/2006/relationships/notesMaster" Target="/ppt/notesMasters/notesMaster1.xml" Id="Rd5fdec1d4163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d0335cb5f44eab" /><Relationship Type="http://schemas.openxmlformats.org/officeDocument/2006/relationships/notesMaster" Target="/ppt/notesMasters/notesMaster1.xml" Id="R5ba82d268bfc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2f19f22f4947cd" /><Relationship Type="http://schemas.openxmlformats.org/officeDocument/2006/relationships/notesMaster" Target="/ppt/notesMasters/notesMaster1.xml" Id="Rf3cbc4e08b524d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f47df0467547fe" /><Relationship Type="http://schemas.openxmlformats.org/officeDocument/2006/relationships/notesMaster" Target="/ppt/notesMasters/notesMaster1.xml" Id="Ra1dca345183447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b8da85362406d" /><Relationship Type="http://schemas.openxmlformats.org/officeDocument/2006/relationships/notesMaster" Target="/ppt/notesMasters/notesMaster1.xml" Id="R8feadb138eec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8237bb3da04c6d" /><Relationship Type="http://schemas.openxmlformats.org/officeDocument/2006/relationships/notesMaster" Target="/ppt/notesMasters/notesMaster1.xml" Id="Re94b5d48d9ba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8caf5464364213" /><Relationship Type="http://schemas.openxmlformats.org/officeDocument/2006/relationships/notesMaster" Target="/ppt/notesMasters/notesMaster1.xml" Id="R3ae3a0eba5bb49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2800f999f942d4" /><Relationship Type="http://schemas.openxmlformats.org/officeDocument/2006/relationships/notesMaster" Target="/ppt/notesMasters/notesMaster1.xml" Id="R50e2ac973fc846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d8032affc64324" /><Relationship Type="http://schemas.openxmlformats.org/officeDocument/2006/relationships/notesMaster" Target="/ppt/notesMasters/notesMaster1.xml" Id="R48746bb3082143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b481dff71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b4104933b4c97" /><Relationship Type="http://schemas.openxmlformats.org/officeDocument/2006/relationships/slideLayout" Target="/ppt/slideLayouts/slideLayout1.xml" Id="Re20baea10366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baea10366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74e673d243c9" /><Relationship Type="http://schemas.openxmlformats.org/officeDocument/2006/relationships/notesSlide" Target="/ppt/notesSlides/notesSlide1.xml" Id="R3c66e1fe9b6d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eef3b1a67473e" /><Relationship Type="http://schemas.openxmlformats.org/officeDocument/2006/relationships/notesSlide" Target="/ppt/notesSlides/notesSlide2.xml" Id="R8fe9919513d542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30849b9e49d6" /><Relationship Type="http://schemas.openxmlformats.org/officeDocument/2006/relationships/notesSlide" Target="/ppt/notesSlides/notesSlide3.xml" Id="R3c0f8bc51c524a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feae1f48945e5" /><Relationship Type="http://schemas.openxmlformats.org/officeDocument/2006/relationships/notesSlide" Target="/ppt/notesSlides/notesSlide4.xml" Id="Raafe748aa057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ef2ba0d74fbd" /><Relationship Type="http://schemas.openxmlformats.org/officeDocument/2006/relationships/notesSlide" Target="/ppt/notesSlides/notesSlide5.xml" Id="R10af8e31c1aa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d3a8a7ba412c" /><Relationship Type="http://schemas.openxmlformats.org/officeDocument/2006/relationships/notesSlide" Target="/ppt/notesSlides/notesSlide6.xml" Id="R2fbc302b73e043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04181d7cf4cde" /><Relationship Type="http://schemas.openxmlformats.org/officeDocument/2006/relationships/notesSlide" Target="/ppt/notesSlides/notesSlide7.xml" Id="Rc45c2966f24948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e5b5dc98a4b98" /><Relationship Type="http://schemas.openxmlformats.org/officeDocument/2006/relationships/notesSlide" Target="/ppt/notesSlides/notesSlide8.xml" Id="R96a14eb4835f44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d881eaf14491b" /><Relationship Type="http://schemas.openxmlformats.org/officeDocument/2006/relationships/notesSlide" Target="/ppt/notesSlides/notesSlide9.xml" Id="Rce8c36c58a44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1e976f127478e" /><Relationship Type="http://schemas.openxmlformats.org/officeDocument/2006/relationships/notesSlide" Target="/ppt/notesSlides/notesSlide10.xml" Id="Ra8074758a7b048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945EA-316A-4A45-8FAD-0C22819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1574F-93CC-4C87-A4F3-334B1238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304B-0C26-4866-92FA-38156BB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Polycheck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1E2E1-85CB-4359-81A3-E12F7B0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8000"/>
                  </a:srgbClr>
                </a:solidFill>
              </a:defRPr>
            </a:pPr>
            <a:r>
              <a:rPr sz="1800" b="0">
                <a:solidFill>
                  <a:srgbClr val="FFFFFF">
                    <a:alpha val="88000"/>
                  </a:srgbClr>
                </a:solidFill>
              </a:rPr>
              <a:t>A full attendance system for QR check-ins, location verification, and offline-first sync.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38ECB-C2CE-48DA-A2FD-5AE778BC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A0A0B"/>
                </a:solidFill>
              </a:defRPr>
            </a:pPr>
            <a:r>
              <a:rPr sz="1125" b="1">
                <a:solidFill>
                  <a:srgbClr val="4A0A0B"/>
                </a:solidFill>
              </a:rPr>
              <a:t>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F11BB-FDA7-404E-88DF-B160C69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GEOLOCATION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80FAA-B553-4658-990D-A7CAF8D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FFF6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0A0B"/>
                </a:solidFill>
              </a:defRPr>
            </a:pPr>
            <a:r>
              <a:rPr sz="1050" b="1">
                <a:solidFill>
                  <a:srgbClr val="4A0A0B"/>
                </a:solidFill>
              </a:rPr>
              <a:t>OFFLINE-FIRST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D3F2D-019E-4EDC-A4AB-CBF388B9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09650"/>
            <a:ext cx="3543300" cy="4476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6B726-6B9F-41A4-8E2C-F9497B2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954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0A0B"/>
                </a:solidFill>
              </a:defRPr>
            </a:pPr>
            <a:r>
              <a:rPr sz="1050" b="1">
                <a:solidFill>
                  <a:srgbClr val="4A0A0B"/>
                </a:solidFill>
              </a:rPr>
              <a:t>WHAT IT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4FB55-05A1-498B-B2B9-ED0E3A4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Captures attendance on the spot, even when the internet is unreliable.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A4C24-FDAD-4301-8006-E118D5EA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97540-446D-42B0-83F3-5A541FF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hero-bullet-1">
            <a:extLst xmlns:a="http://schemas.openxmlformats.org/drawingml/2006/main">
              <a:ext uri="{FF2B5EF4-FFF2-40B4-BE49-F238E27FC236}">
                <a16:creationId xmlns:a16="http://schemas.microsoft.com/office/drawing/2014/main" id="{418B04EC-C02F-4E4B-A31C-0CAA0D5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92000"/>
                  </a:srgbClr>
                </a:solidFill>
              </a:defRPr>
            </a:pPr>
            <a:r>
              <a:rPr sz="1275" b="0">
                <a:solidFill>
                  <a:srgbClr val="FFFFFF">
                    <a:alpha val="92000"/>
                  </a:srgbClr>
                </a:solidFill>
              </a:rPr>
              <a:t>Teachers create a session and generate a signed QR code.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2D5EA-CCEE-4408-9BA8-FFB95CC1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hero-bullet-2">
            <a:extLst xmlns:a="http://schemas.openxmlformats.org/drawingml/2006/main">
              <a:ext uri="{FF2B5EF4-FFF2-40B4-BE49-F238E27FC236}">
                <a16:creationId xmlns:a16="http://schemas.microsoft.com/office/drawing/2014/main" id="{7EED907E-2A33-4FCD-B992-C7AB526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92000"/>
                  </a:srgbClr>
                </a:solidFill>
              </a:defRPr>
            </a:pPr>
            <a:r>
              <a:rPr sz="1275" b="0">
                <a:solidFill>
                  <a:srgbClr val="FFFFFF">
                    <a:alpha val="92000"/>
                  </a:srgbClr>
                </a:solidFill>
              </a:rPr>
              <a:t>Students scan only when the token is valid and the phone is in range.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2FF0C-F06B-4D72-8B83-A433FD88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76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hero-bullet-3">
            <a:extLst xmlns:a="http://schemas.openxmlformats.org/drawingml/2006/main">
              <a:ext uri="{FF2B5EF4-FFF2-40B4-BE49-F238E27FC236}">
                <a16:creationId xmlns:a16="http://schemas.microsoft.com/office/drawing/2014/main" id="{8FEFAD87-238B-4024-B89C-BE76BE89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92000"/>
                  </a:srgbClr>
                </a:solidFill>
              </a:defRPr>
            </a:pPr>
            <a:r>
              <a:rPr sz="1275" b="0">
                <a:solidFill>
                  <a:srgbClr val="FFFFFF">
                    <a:alpha val="92000"/>
                  </a:srgbClr>
                </a:solidFill>
              </a:rPr>
              <a:t>Records are stored locally first, then synchronized to the server.</a:t>
            </a:r>
          </a:p>
        </p:txBody>
      </p:sp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FF43E77-5AB8-4004-B0D0-BA14918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Overview presentation</a:t>
            </a:r>
          </a:p>
        </p:txBody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3FC644-0ABF-4E7F-A675-19A8B8C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</p:spTree>
    <p:extLst>
      <p:ext uri="{BB962C8B-B14F-4D97-AF65-F5344CB8AC3E}">
        <p14:creationId xmlns:p14="http://schemas.microsoft.com/office/powerpoint/2010/main" val="1589533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A98EC3-BBA7-4E25-A83F-ED68096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Why attendance needed a better system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EC55A0-648D-40FA-A9D3-1166930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Polycheck is designed to reduce friction, improve trust, and keep class records usable later.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F3F610B-F1B6-4ACF-BD1A-55716C7E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Problem statement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6715B1E-30A6-4E63-8224-BCE25EF3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B4055-A0D1-4FF7-A756-0CE1B4D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971800" cy="3009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1D6F8-3408-47ED-86C7-43296BE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971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0">
            <a:solidFill>
              <a:srgbClr val="7B11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5A7D-2EA1-49AD-96CE-9336CE98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Manual roll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CCD66-4CF5-4C73-9947-553954C1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0"/>
                </a:solidFill>
              </a:defRPr>
            </a:pPr>
            <a:r>
              <a:rPr sz="1425" b="0">
                <a:solidFill>
                  <a:srgbClr val="5B5560"/>
                </a:solidFill>
              </a:rPr>
              <a:t>Slow at the start of class, easy to miss, and hard to audit after the 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AE153-1374-453F-BE09-FB89E52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E4"/>
          </a:solidFill>
          <a:ln xmlns:a="http://schemas.openxmlformats.org/drawingml/2006/main" w="9525">
            <a:solidFill>
              <a:srgbClr val="F6E7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B1113"/>
                </a:solidFill>
              </a:defRPr>
            </a:pPr>
            <a:r>
              <a:rPr sz="975" b="1">
                <a:solidFill>
                  <a:srgbClr val="7B1113"/>
                </a:solidFill>
              </a:rPr>
              <a:t>BAD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340A2-F379-4A70-B8B6-9D78645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2971800" cy="3009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F0A9D-27A9-4413-8608-8B59969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2971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5E59B-C3F6-4CFC-B6E1-6A1BF582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Proxy check-ins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690F-686F-4CD4-9DB9-60B7E4C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0"/>
                </a:solidFill>
              </a:defRPr>
            </a:pPr>
            <a:r>
              <a:rPr sz="1425" b="0">
                <a:solidFill>
                  <a:srgbClr val="5B5560"/>
                </a:solidFill>
              </a:rPr>
              <a:t>A screenshot or forwarded QR should not be enough to mark a student present.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2597F-C801-4871-83E7-28CECFA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24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FFF6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0A0B"/>
                </a:solidFill>
              </a:defRPr>
            </a:pPr>
            <a:r>
              <a:rPr sz="975" b="1">
                <a:solidFill>
                  <a:srgbClr val="4A0A0B"/>
                </a:solidFill>
              </a:rPr>
              <a:t>BAD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48855-3DF6-4908-89E4-096CFE7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971800" cy="3009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6F7A5-4AA5-403E-9AF9-B9161363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971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B8280-DF54-4A0D-9C94-BCD192A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Scattered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5E396-773E-4B85-A2CE-0DB14458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0"/>
                </a:solidFill>
              </a:defRPr>
            </a:pPr>
            <a:r>
              <a:rPr sz="1425" b="0">
                <a:solidFill>
                  <a:srgbClr val="5B5560"/>
                </a:solidFill>
              </a:rPr>
              <a:t>If attendance stays in notebooks and chats, reporting and dispute review become painful.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B8D04-2CAB-43FC-8A53-B8320C5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E4"/>
          </a:solidFill>
          <a:ln xmlns:a="http://schemas.openxmlformats.org/drawingml/2006/main" w="9525">
            <a:solidFill>
              <a:srgbClr val="F6E7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B1113"/>
                </a:solidFill>
              </a:defRPr>
            </a:pPr>
            <a:r>
              <a:rPr sz="975" b="1">
                <a:solidFill>
                  <a:srgbClr val="7B1113"/>
                </a:solidFill>
              </a:rPr>
              <a:t>BAD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71DD9-83FD-42B9-9A6F-8F0062D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363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1A444-4DEA-4D42-9B86-70B8DF74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Polycheck replaces a manual snapshot with a verified, auditable attendance workflow.</a:t>
            </a:r>
          </a:p>
        </p:txBody>
      </p:sp>
    </p:spTree>
    <p:extLst>
      <p:ext uri="{BB962C8B-B14F-4D97-AF65-F5344CB8AC3E}">
        <p14:creationId xmlns:p14="http://schemas.microsoft.com/office/powerpoint/2010/main" val="1217653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348C94-AD98-4A3D-B1CA-2BD204A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One system, three connected experiences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4054C8-D8FB-4C94-B497-6692545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Teachers work in the web dashboard, students use the mobile app, and both connect through the same backend and shared data model.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4BBBCBA-345E-4DD9-B921-6319790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System overview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304AF85-7B68-42AC-86BF-74AB3DB0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4F501-E507-44BE-BA56-7D46278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971800" cy="3162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134B2-B36A-499F-BE0E-44A6EF7B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0">
            <a:solidFill>
              <a:srgbClr val="7B11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04D2E-49EE-415F-A33E-C837654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Web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892BB-6DF5-4B81-A685-B0B8F5A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For teachers and super admins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8818D-8706-49BC-A86E-97E088D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Web dashboard-bullet-1">
            <a:extLst xmlns:a="http://schemas.openxmlformats.org/drawingml/2006/main">
              <a:ext uri="{FF2B5EF4-FFF2-40B4-BE49-F238E27FC236}">
                <a16:creationId xmlns:a16="http://schemas.microsoft.com/office/drawing/2014/main" id="{784D80C5-F670-4D60-B6C1-024AC6FB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Create subjects and sections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1DBE1-9D2A-47FB-A16B-F5D464EF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Web dashboard-bullet-2">
            <a:extLst xmlns:a="http://schemas.openxmlformats.org/drawingml/2006/main">
              <a:ext uri="{FF2B5EF4-FFF2-40B4-BE49-F238E27FC236}">
                <a16:creationId xmlns:a16="http://schemas.microsoft.com/office/drawing/2014/main" id="{1597AC06-8DC7-4BD7-99BF-A535A0B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Schedule sessions and geofences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CAF5C-CD15-4918-A539-56D763C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Web dashboard-bullet-3">
            <a:extLst xmlns:a="http://schemas.openxmlformats.org/drawingml/2006/main">
              <a:ext uri="{FF2B5EF4-FFF2-40B4-BE49-F238E27FC236}">
                <a16:creationId xmlns:a16="http://schemas.microsoft.com/office/drawing/2014/main" id="{9C8EBBA6-5CB5-4898-9263-762DE25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Review reports, disputes, and exports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FE31C-19F2-4D8A-8512-AE04B62B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2971800" cy="3162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A7FD9-45B6-483F-A713-40B88FD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DA54A-CA98-4FB4-9160-DDB5FA69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Mobile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F08C0-4144-435B-9E9B-1F0B2061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For students and class officers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8D8CA-BFFF-4C44-922C-16800CDB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Mobile app-bullet-1">
            <a:extLst xmlns:a="http://schemas.openxmlformats.org/drawingml/2006/main">
              <a:ext uri="{FF2B5EF4-FFF2-40B4-BE49-F238E27FC236}">
                <a16:creationId xmlns:a16="http://schemas.microsoft.com/office/drawing/2014/main" id="{4E8C8344-DB6A-4A44-9869-F8FA3C5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Scan QR codes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2338B-43CA-4B47-988B-7958EFE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Mobile app-bullet-2">
            <a:extLst xmlns:a="http://schemas.openxmlformats.org/drawingml/2006/main">
              <a:ext uri="{FF2B5EF4-FFF2-40B4-BE49-F238E27FC236}">
                <a16:creationId xmlns:a16="http://schemas.microsoft.com/office/drawing/2014/main" id="{B480330F-13AC-424D-A875-7D4EC0BC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View schedules and attendance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7AA0E-52FC-4493-9454-2FC5E83E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Mobile app-bullet-3">
            <a:extLst xmlns:a="http://schemas.openxmlformats.org/drawingml/2006/main">
              <a:ext uri="{FF2B5EF4-FFF2-40B4-BE49-F238E27FC236}">
                <a16:creationId xmlns:a16="http://schemas.microsoft.com/office/drawing/2014/main" id="{6CECF931-BDEA-4AB9-B9C0-445A109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Check digital student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0A10E-F184-49F4-8CC8-65AFBE5F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971800" cy="3162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CAAF7-E35D-4937-A31E-D942F3E8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BA62B-4259-440F-80DF-6D43713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Shared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54F33-836E-4466-8BED-8C702CD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Sync, rules, and audit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7D583-4707-4755-B4A3-4903AB61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hared backend-bullet-1">
            <a:extLst xmlns:a="http://schemas.openxmlformats.org/drawingml/2006/main">
              <a:ext uri="{FF2B5EF4-FFF2-40B4-BE49-F238E27FC236}">
                <a16:creationId xmlns:a16="http://schemas.microsoft.com/office/drawing/2014/main" id="{247F2ED1-4DB0-4EFD-AF35-2DCB6D98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Verify token signatures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D1C75-D4AF-45D4-AD30-4AD244A4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Shared backend-bullet-2">
            <a:extLst xmlns:a="http://schemas.openxmlformats.org/drawingml/2006/main">
              <a:ext uri="{FF2B5EF4-FFF2-40B4-BE49-F238E27FC236}">
                <a16:creationId xmlns:a16="http://schemas.microsoft.com/office/drawing/2014/main" id="{0618B3AF-56D4-487A-AD37-CB16EDD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Re-check GPS and duplicates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560C8-F23F-4115-896C-761354C4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hared backend-bullet-3">
            <a:extLst xmlns:a="http://schemas.openxmlformats.org/drawingml/2006/main">
              <a:ext uri="{FF2B5EF4-FFF2-40B4-BE49-F238E27FC236}">
                <a16:creationId xmlns:a16="http://schemas.microsoft.com/office/drawing/2014/main" id="{4AEC08A2-024B-4828-90B9-3218483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Push live updates through WebSockets</a:t>
            </a:r>
          </a:p>
        </p:txBody>
      </p:sp>
    </p:spTree>
    <p:extLst>
      <p:ext uri="{BB962C8B-B14F-4D97-AF65-F5344CB8AC3E}">
        <p14:creationId xmlns:p14="http://schemas.microsoft.com/office/powerpoint/2010/main" val="1498717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2619E5-B490-40F8-8006-E2389E3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The check-in flow is simple on purpose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EF3BCE-660E-45E2-805A-56D2408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Every step is designed to work in class first, then sync later.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EDEECC-5B84-4AFF-9AFA-D54A8941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Attendance flow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99D67DA-0912-4CD5-A21F-47A6CF8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FFA10-658B-49FC-A576-821A8D2C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47900" cy="28194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014D3-BF45-4FCB-B423-1463E3B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B2E10-B797-4B6D-9CA8-78D5D74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Teacher starts the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C6371-A71E-49F2-80CF-39BAB4E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A signed QR token is generated with the session's validity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4FEEC-A5EA-47D6-94C8-5E3A8A8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0">
            <a:solidFill>
              <a:srgbClr val="7B111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62955-77B3-4A5E-92DD-6262DE5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247900" cy="28194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9F97F-61FC-4AA3-A1AA-A04DFB4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0AB6A-2C77-491C-908E-921DF7C1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Students pre-sync before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50A37-54EC-40DF-A718-3A30499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Subject data and geofence rules are cached on the phone before attendance begins.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A6B2A-AF7D-45C1-994F-49F718F1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908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0BA66-7DF1-4F59-9CC5-4E41908B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81200"/>
            <a:ext cx="2247900" cy="28194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6011E-D7BA-494E-8545-F0E1CC73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71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98928-1D8D-46D0-9576-6D694105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Scan happens at the door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93F76-8701-4ADD-A4A7-EC33DFD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The phone checks the QR window and the location gate locally at scan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295D0-9E5E-4227-B765-768AA934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3CF87-4D60-4A76-BC8D-B27EE6E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247900" cy="28194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9F81A-8F90-490B-9EEB-95B497C0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2976C-7689-46DB-9EBB-F9E7EFF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Records sync to the 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E2B5D-D93D-4D22-85B5-1D2B582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Attendance is verified again and teachers see the result in the live class 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5B7EF-7490-455F-80F5-0A1AF11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8F2EB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3169C-7E7F-4852-A2A6-E02293F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0A0B"/>
                </a:solidFill>
              </a:defRPr>
            </a:pPr>
            <a:r>
              <a:rPr sz="1350" b="1">
                <a:solidFill>
                  <a:srgbClr val="4A0A0B"/>
                </a:solidFill>
              </a:rPr>
              <a:t>If the internet is unreliable, the class still runs. Sync comes after the lesson, not before it.</a:t>
            </a:r>
          </a:p>
        </p:txBody>
      </p:sp>
    </p:spTree>
    <p:extLst>
      <p:ext uri="{BB962C8B-B14F-4D97-AF65-F5344CB8AC3E}">
        <p14:creationId xmlns:p14="http://schemas.microsoft.com/office/powerpoint/2010/main" val="335233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0BB20F-2B0B-4ABF-8822-AB5EC7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Polycheck checks more than one thing before marking a student present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6B622A-6635-4FCB-B909-C6282B71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The system combines cryptographic proof, proximity validation, and duplicate protection.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DF934D2-0DCE-4A49-B431-F1842379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Verification model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0991F07-7D39-4AD3-8AF5-1E07976A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13064-3B40-4A55-903D-20A6A8D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71800" cy="3048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2AF07-97F2-46D2-9408-18A95E5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CORE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2F06A-7E19-41DD-975B-6A5ACC2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Signed QR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5DD11-23C6-4B0D-853A-564911A2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400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0"/>
                </a:solidFill>
              </a:defRPr>
            </a:pPr>
            <a:r>
              <a:rPr sz="1275" b="0">
                <a:solidFill>
                  <a:srgbClr val="5B5560"/>
                </a:solidFill>
              </a:rPr>
              <a:t>The QR is not a static image. It carries a signed issued time so the system can tell whether the token was valid when it was scanned.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8F834-F04C-4949-B8F0-D988EF0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971800" cy="3048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E7E4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E49E0-C5C9-4394-9712-83B9C206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CORE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AAAD4-FB3F-4E27-85A8-C85E1F2E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Geolocation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72702-B907-4F92-897A-AC5180F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400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0"/>
                </a:solidFill>
              </a:defRPr>
            </a:pPr>
            <a:r>
              <a:rPr sz="1275" b="0">
                <a:solidFill>
                  <a:srgbClr val="5B5560"/>
                </a:solidFill>
              </a:rPr>
              <a:t>The student device checks the configured geofence locally and rejects scans that happen outside the allowed area.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2A67F-3CE3-42B0-B72E-7A864F71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971800" cy="3048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A8AE6-5D16-4720-BE45-0D81AB3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0A0B"/>
                </a:solidFill>
              </a:defRPr>
            </a:pPr>
            <a:r>
              <a:rPr sz="975" b="1">
                <a:solidFill>
                  <a:srgbClr val="4A0A0B"/>
                </a:solidFill>
              </a:rPr>
              <a:t>CORE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46606-ADDD-4895-A007-3C4F368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No double counting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307C2-52B0-4DC3-A3ED-12B6F46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400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0"/>
                </a:solidFill>
              </a:defRPr>
            </a:pPr>
            <a:r>
              <a:rPr sz="1275" b="0">
                <a:solidFill>
                  <a:srgbClr val="5B5560"/>
                </a:solidFill>
              </a:rPr>
              <a:t>The server rejects duplicate token and student pairs so one scan cannot be reused to inflate attendance.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A56F-8C3F-4FE5-A52C-69DFA0A3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A"/>
          </a:solidFill>
          <a:ln xmlns:a="http://schemas.openxmlformats.org/drawingml/2006/main" w="0">
            <a:solidFill>
              <a:srgbClr val="E8E1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8BDAC-7A58-46C7-A378-026C7F4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816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0A0B"/>
                </a:solidFill>
              </a:defRPr>
            </a:pPr>
            <a:r>
              <a:rPr sz="1350" b="1">
                <a:solidFill>
                  <a:srgbClr val="4A0A0B"/>
                </a:solidFill>
              </a:rPr>
              <a:t>Device clock alone does not decide validity. The signed payload and server-side recheck do.</a:t>
            </a:r>
          </a:p>
        </p:txBody>
      </p:sp>
    </p:spTree>
    <p:extLst>
      <p:ext uri="{BB962C8B-B14F-4D97-AF65-F5344CB8AC3E}">
        <p14:creationId xmlns:p14="http://schemas.microsoft.com/office/powerpoint/2010/main" val="208420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23A97A-3C0F-485C-8743-C0FAADCA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Offline-first is not a slogan here. It is the operating model.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4E6D37-487F-43C8-BA45-2BB2599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Polycheck keeps the classroom usable without internet and uses sync only when the network is available.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7B8826A-D53B-41CF-AE6E-C55271E2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Offline-first architecture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6134D57-F038-434D-86CF-F86B71F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536E2-F76D-4760-9985-7FD05164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DD0A-E765-4396-AA5C-0588288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7625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E18C8-45E2-4CFE-AF29-3B51CC7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DURING 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699EF-B581-4D87-8C46-781A2EA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0A0B"/>
                </a:solidFill>
              </a:defRPr>
            </a:pPr>
            <a:r>
              <a:rPr sz="1050" b="1">
                <a:solidFill>
                  <a:srgbClr val="4A0A0B"/>
                </a:solidFill>
              </a:rPr>
              <a:t>AFTER CONNECTIVITY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502D5-70AC-4D7A-88AF-30ACEAA0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Local device becomes the source of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E36C9-00F7-4ADD-9CC5-4A61CD7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offline-left-1">
            <a:extLst xmlns:a="http://schemas.openxmlformats.org/drawingml/2006/main">
              <a:ext uri="{FF2B5EF4-FFF2-40B4-BE49-F238E27FC236}">
                <a16:creationId xmlns:a16="http://schemas.microsoft.com/office/drawing/2014/main" id="{43004326-B6EA-48C9-9A4B-70BEDF9E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Session config is cached in advance.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FFF89-B083-4535-BF3F-A608C0E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offline-left-2">
            <a:extLst xmlns:a="http://schemas.openxmlformats.org/drawingml/2006/main">
              <a:ext uri="{FF2B5EF4-FFF2-40B4-BE49-F238E27FC236}">
                <a16:creationId xmlns:a16="http://schemas.microsoft.com/office/drawing/2014/main" id="{A02B1BB1-CFFB-4A89-959F-CFBA330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QR scanning, geofence checks, and status assignment happen on the device.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67B2E-8AF9-4AF7-907F-EB02139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offline-left-3">
            <a:extLst xmlns:a="http://schemas.openxmlformats.org/drawingml/2006/main">
              <a:ext uri="{FF2B5EF4-FFF2-40B4-BE49-F238E27FC236}">
                <a16:creationId xmlns:a16="http://schemas.microsoft.com/office/drawing/2014/main" id="{274ED3DA-1C1C-4D08-9815-12CC268F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Attendance is stored in local SQLite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16CF-5250-44E9-AEB7-6CB1A4BC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Sync confirms and reconciles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0A9C0-5040-4288-9CB0-6CC7067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offline-right-1">
            <a:extLst xmlns:a="http://schemas.openxmlformats.org/drawingml/2006/main">
              <a:ext uri="{FF2B5EF4-FFF2-40B4-BE49-F238E27FC236}">
                <a16:creationId xmlns:a16="http://schemas.microsoft.com/office/drawing/2014/main" id="{9C048F95-B9ED-4A46-815E-58C25A5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432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The server revalidates signatures and timestamps.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89323-B70E-4B90-94E4-9F01714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offline-right-2">
            <a:extLst xmlns:a="http://schemas.openxmlformats.org/drawingml/2006/main">
              <a:ext uri="{FF2B5EF4-FFF2-40B4-BE49-F238E27FC236}">
                <a16:creationId xmlns:a16="http://schemas.microsoft.com/office/drawing/2014/main" id="{A9ED04AC-B0D0-44E6-B7F2-CCEA108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GPS and duplicate rules are checked again on upload.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22D2D-84DF-4C50-9FC9-F619A99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offline-right-3">
            <a:extLst xmlns:a="http://schemas.openxmlformats.org/drawingml/2006/main">
              <a:ext uri="{FF2B5EF4-FFF2-40B4-BE49-F238E27FC236}">
                <a16:creationId xmlns:a16="http://schemas.microsoft.com/office/drawing/2014/main" id="{76B93875-5EE1-4812-9B86-16A97FEE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338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Any failure becomes a disputed record for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7B5F8-7B6B-453A-A08D-82FFFA6E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36ED7-F1AB-4292-BFF1-DFF52B3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14400" cy="800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D830A-FA1C-4953-9221-767C8400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8F2EB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F3C10-2DE3-4CE6-8892-0277C81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48325"/>
            <a:ext cx="1026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A0A0B"/>
                </a:solidFill>
              </a:defRPr>
            </a:pPr>
            <a:r>
              <a:rPr sz="1275" b="0">
                <a:solidFill>
                  <a:srgbClr val="4A0A0B"/>
                </a:solidFill>
              </a:rPr>
              <a:t>Students must pre-sync before class day, which is an acceptable tradeoff for reliable in-room attendance.</a:t>
            </a:r>
          </a:p>
        </p:txBody>
      </p:sp>
    </p:spTree>
    <p:extLst>
      <p:ext uri="{BB962C8B-B14F-4D97-AF65-F5344CB8AC3E}">
        <p14:creationId xmlns:p14="http://schemas.microsoft.com/office/powerpoint/2010/main" val="752939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72C935-A2A2-4FD1-9197-176881A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Different roles see different power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994EAB-B73A-4188-82C2-52384CE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Polycheck is built around clear responsibilities so access stays easy to understand and hard to misuse.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EF0580F-5F58-44A5-A3A9-B8FCAF1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Roles and permissions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54954D2-E204-42A2-B5EF-79379D2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BACAF-C469-4BCB-9720-7B5B24E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718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715BF-515D-4678-947A-669C684D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2F628-D470-45EC-A248-28116FB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Super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4F27B-5128-4E37-A5E5-4F7DA83E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Institution-wide oversight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7DFA-AE94-49D3-8159-B8DE8307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uper Admin-role-1">
            <a:extLst xmlns:a="http://schemas.openxmlformats.org/drawingml/2006/main">
              <a:ext uri="{FF2B5EF4-FFF2-40B4-BE49-F238E27FC236}">
                <a16:creationId xmlns:a16="http://schemas.microsoft.com/office/drawing/2014/main" id="{9414A930-BB26-4125-BE3C-85DBF73D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Sees data across teachers and subjects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A4AE1-BD5B-48E4-9A9D-2736E51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uper Admin-role-2">
            <a:extLst xmlns:a="http://schemas.openxmlformats.org/drawingml/2006/main">
              <a:ext uri="{FF2B5EF4-FFF2-40B4-BE49-F238E27FC236}">
                <a16:creationId xmlns:a16="http://schemas.microsoft.com/office/drawing/2014/main" id="{13FA27AC-53C9-4344-849E-6B905476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Manages teacher accounts and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76527-267C-493B-A415-6F80403B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uper Admin-role-3">
            <a:extLst xmlns:a="http://schemas.openxmlformats.org/drawingml/2006/main">
              <a:ext uri="{FF2B5EF4-FFF2-40B4-BE49-F238E27FC236}">
                <a16:creationId xmlns:a16="http://schemas.microsoft.com/office/drawing/2014/main" id="{93E66EC9-2432-483D-8A10-4CBFDC1F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Generates reports and reviews trends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48E2-5D2A-40DD-8FF4-019CFCE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9718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98770-FBD2-47EE-A736-2482C26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0">
            <a:solidFill>
              <a:srgbClr val="7B11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B1E01-1828-42B1-BC72-B158FFC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Teacher / Instructor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35579-54D8-4D7B-AAD6-B4F7CB07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Day-to-day attendance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76C71-9A80-438A-9130-73E16A5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Teacher / Instructor-role-1">
            <a:extLst xmlns:a="http://schemas.openxmlformats.org/drawingml/2006/main">
              <a:ext uri="{FF2B5EF4-FFF2-40B4-BE49-F238E27FC236}">
                <a16:creationId xmlns:a16="http://schemas.microsoft.com/office/drawing/2014/main" id="{588BB362-014E-4EBB-92F6-46A24A6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Creates subjects and sections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CB673-CDF3-475A-A4E3-13E81455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Teacher / Instructor-role-2">
            <a:extLst xmlns:a="http://schemas.openxmlformats.org/drawingml/2006/main">
              <a:ext uri="{FF2B5EF4-FFF2-40B4-BE49-F238E27FC236}">
                <a16:creationId xmlns:a16="http://schemas.microsoft.com/office/drawing/2014/main" id="{4B1A428C-C20E-4C11-9ECE-13E7F6B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Starts sessions and sets geofences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E902E-8CC9-4AAB-952D-D8442AA0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Teacher / Instructor-role-3">
            <a:extLst xmlns:a="http://schemas.openxmlformats.org/drawingml/2006/main">
              <a:ext uri="{FF2B5EF4-FFF2-40B4-BE49-F238E27FC236}">
                <a16:creationId xmlns:a16="http://schemas.microsoft.com/office/drawing/2014/main" id="{ACB011D2-2097-4CC3-A0D5-A58D78C1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Reviews attendance, disputes, and exports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E3C2F-512D-405F-85D4-E0DBC82B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9718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9EC98-6E46-4213-953F-D753C6F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971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0">
            <a:solidFill>
              <a:srgbClr val="FFDF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06F69-ED8E-4ECA-B67B-0B4A82D6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1616"/>
                </a:solidFill>
              </a:defRPr>
            </a:pPr>
            <a:r>
              <a:rPr sz="2100" b="1">
                <a:solidFill>
                  <a:srgbClr val="161616"/>
                </a:solidFill>
              </a:rPr>
              <a:t>Student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61830-4B79-447C-9E0A-E2049EE4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0"/>
                </a:solidFill>
              </a:defRPr>
            </a:pPr>
            <a:r>
              <a:rPr sz="1125" b="0">
                <a:solidFill>
                  <a:srgbClr val="5B5560"/>
                </a:solidFill>
              </a:rPr>
              <a:t>Fast check-in and personal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921BC-48D1-4803-889A-0CC04221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tudent-role-1">
            <a:extLst xmlns:a="http://schemas.openxmlformats.org/drawingml/2006/main">
              <a:ext uri="{FF2B5EF4-FFF2-40B4-BE49-F238E27FC236}">
                <a16:creationId xmlns:a16="http://schemas.microsoft.com/office/drawing/2014/main" id="{ED36505A-2319-4C89-9C6B-9FD89B0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Scans the QR code in the mobile 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9F916-8C6B-4DD4-AE35-0F347B0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Student-role-2">
            <a:extLst xmlns:a="http://schemas.openxmlformats.org/drawingml/2006/main">
              <a:ext uri="{FF2B5EF4-FFF2-40B4-BE49-F238E27FC236}">
                <a16:creationId xmlns:a16="http://schemas.microsoft.com/office/drawing/2014/main" id="{92F22078-8E0F-420F-ABDB-AA79D86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Views schedule and attendance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A2B885-BEB7-44F6-A878-251BF0DA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tudent-role-3">
            <a:extLst xmlns:a="http://schemas.openxmlformats.org/drawingml/2006/main">
              <a:ext uri="{FF2B5EF4-FFF2-40B4-BE49-F238E27FC236}">
                <a16:creationId xmlns:a16="http://schemas.microsoft.com/office/drawing/2014/main" id="{5F91B9D3-09D5-4C7A-8BF0-FC271D4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Submits disputes when something is wrong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531DB9-F24C-482B-A461-AE74F2EF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4CA85D-78F7-4E0C-B623-DAAAE1F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026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A0A0B"/>
                </a:solidFill>
              </a:defRPr>
            </a:pPr>
            <a:r>
              <a:rPr sz="1275" b="0">
                <a:solidFill>
                  <a:srgbClr val="4A0A0B"/>
                </a:solidFill>
              </a:rPr>
              <a:t>Teachers can also assign section officers such as Presidents and QAC members for approved session actions.</a:t>
            </a:r>
          </a:p>
        </p:txBody>
      </p:sp>
    </p:spTree>
    <p:extLst>
      <p:ext uri="{BB962C8B-B14F-4D97-AF65-F5344CB8AC3E}">
        <p14:creationId xmlns:p14="http://schemas.microsoft.com/office/powerpoint/2010/main" val="712617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E2720-41FD-48C5-B0FC-EF5C16E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Attendance becomes a record, not just a count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622EC6-F5E9-4F55-9411-21491A5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Reporting is built in, so teachers and administrators can review what happened without rebuilding the story from scratch.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7F2C330-2CB5-4F9B-A4E6-8179531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Reports and review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7F452B7-C9B1-405E-8873-2ABA256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F261A-5889-4CD8-9D1E-E8FEE5E7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576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BD950-B768-4F0C-8794-42D1009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647700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8E54C-0D0A-46CA-AE96-4C63A7B5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What the dashboard shows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E1AA7-5BBB-4618-A02A-55B4FC42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ports-left-1">
            <a:extLst xmlns:a="http://schemas.openxmlformats.org/drawingml/2006/main">
              <a:ext uri="{FF2B5EF4-FFF2-40B4-BE49-F238E27FC236}">
                <a16:creationId xmlns:a16="http://schemas.microsoft.com/office/drawing/2014/main" id="{6E03E7D9-C6C2-4771-A3A1-448C5D6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Present, late, absent, and disputed totals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30237-4B0D-41DA-8BA3-0FCF3D4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reports-left-2">
            <a:extLst xmlns:a="http://schemas.openxmlformats.org/drawingml/2006/main">
              <a:ext uri="{FF2B5EF4-FFF2-40B4-BE49-F238E27FC236}">
                <a16:creationId xmlns:a16="http://schemas.microsoft.com/office/drawing/2014/main" id="{6C65EC6E-539B-43CC-AE37-0B473B1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Filters by subject, teacher, date range, and 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3F5F-F808-49B4-9367-25D6954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ports-left-3">
            <a:extLst xmlns:a="http://schemas.openxmlformats.org/drawingml/2006/main">
              <a:ext uri="{FF2B5EF4-FFF2-40B4-BE49-F238E27FC236}">
                <a16:creationId xmlns:a16="http://schemas.microsoft.com/office/drawing/2014/main" id="{B5150E80-DD6A-4C09-AAA0-BE2AF409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616"/>
                </a:solidFill>
              </a:defRPr>
            </a:pPr>
            <a:r>
              <a:rPr sz="1350" b="0">
                <a:solidFill>
                  <a:srgbClr val="161616"/>
                </a:solidFill>
              </a:rPr>
              <a:t>Exportable attendance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24270-C07C-4743-A760-BB4BDA0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How a dispute is handled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01E6E-BCE8-48BC-B253-68F0FE4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2EFAC-C97E-4E40-A3DB-F3F024E5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Student flags an issue with a reason and description.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46B37-F25C-4747-83F0-48B6696D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1DA"/>
          </a:solidFill>
          <a:ln xmlns:a="http://schemas.openxmlformats.org/drawingml/2006/main" w="0">
            <a:solidFill>
              <a:srgbClr val="E8E1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18AEA-619A-4E64-9451-DE9048F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0A0B"/>
          </a:solidFill>
          <a:ln xmlns:a="http://schemas.openxmlformats.org/drawingml/2006/main" w="9525">
            <a:solidFill>
              <a:srgbClr val="4A0A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A1872-1015-4FBE-AD9C-3172F32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Teacher reviews the record and the supporting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62F93-362F-4ED1-8532-3B0B6A54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E1DA"/>
          </a:solidFill>
          <a:ln xmlns:a="http://schemas.openxmlformats.org/drawingml/2006/main" w="0">
            <a:solidFill>
              <a:srgbClr val="E8E1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A9A67-091A-444B-BB8A-76FF6BD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0A0B"/>
                </a:solidFill>
              </a:defRPr>
            </a:pPr>
            <a:r>
              <a:rPr sz="1350" b="1">
                <a:solidFill>
                  <a:srgbClr val="4A0A0B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BE44D-9D51-4303-8803-E337A2D2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0"/>
                </a:solidFill>
              </a:defRPr>
            </a:pPr>
            <a:r>
              <a:rPr sz="1200" b="0">
                <a:solidFill>
                  <a:srgbClr val="5B5560"/>
                </a:solidFill>
              </a:rPr>
              <a:t>Teacher accepts, rejects, or overrides the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1BE71-E3A5-40AB-A01A-B5405FA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5410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2EB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8CFF2-6895-4848-B56C-AC7F5B1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8625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0A0B"/>
                </a:solidFill>
              </a:defRPr>
            </a:pPr>
            <a:r>
              <a:rPr sz="1350" b="1">
                <a:solidFill>
                  <a:srgbClr val="4A0A0B"/>
                </a:solidFill>
              </a:rPr>
              <a:t>Live updates keep the teacher view current during busy attendance windows.</a:t>
            </a:r>
          </a:p>
        </p:txBody>
      </p:sp>
    </p:spTree>
    <p:extLst>
      <p:ext uri="{BB962C8B-B14F-4D97-AF65-F5344CB8AC3E}">
        <p14:creationId xmlns:p14="http://schemas.microsoft.com/office/powerpoint/2010/main" val="950464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B0F029-797B-41BF-9B46-53426DE2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1616"/>
                </a:solidFill>
              </a:defRPr>
            </a:pPr>
            <a:r>
              <a:rPr sz="3000" b="1">
                <a:solidFill>
                  <a:srgbClr val="161616"/>
                </a:solidFill>
              </a:rPr>
              <a:t>Polycheck fits the devices people already use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6E8E45-DC0C-431D-A1E8-365D350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560"/>
                </a:solidFill>
              </a:defRPr>
            </a:pPr>
            <a:r>
              <a:rPr sz="1350" b="0">
                <a:solidFill>
                  <a:srgbClr val="5B5560"/>
                </a:solidFill>
              </a:rPr>
              <a:t>The web dashboard carries administration work, while the mobile app keeps student check-in fast and familiar.</a:t>
            </a:r>
          </a:p>
        </p:txBody>
      </p:sp>
      <p:sp>
        <p:nvSpPr>
          <p:cNvPr id="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8BE8BBD-3772-48FC-8208-7C28DA9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Web and mobile experience</a:t>
            </a:r>
          </a:p>
        </p:txBody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4491604-DAF7-48AC-AFD8-1C100301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43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560"/>
                </a:solidFill>
              </a:defRPr>
            </a:pPr>
            <a:r>
              <a:rPr sz="825" b="0">
                <a:solidFill>
                  <a:srgbClr val="5B5560"/>
                </a:solidFill>
              </a:rPr>
              <a:t>Polycheck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27B30-2F41-460E-90A5-078EAC81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43500" cy="3295650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044C1-A2C3-4C2A-B44B-35C65EE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143500" cy="3295650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6D679-9EB7-4E9A-B69F-C4370DC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A2EB7-08A7-4011-A465-DBC1C885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0A0B"/>
                </a:solidFill>
              </a:defRPr>
            </a:pPr>
            <a:r>
              <a:rPr sz="1050" b="1">
                <a:solidFill>
                  <a:srgbClr val="4A0A0B"/>
                </a:solidFill>
              </a:rPr>
              <a:t>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4E9D6-7A15-46BD-9178-7FBC1347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1616"/>
                </a:solidFill>
              </a:defRPr>
            </a:pPr>
            <a:r>
              <a:rPr sz="2175" b="1">
                <a:solidFill>
                  <a:srgbClr val="161616"/>
                </a:solidFill>
              </a:rPr>
              <a:t>Teacher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B7031-AA0D-49F2-BC9C-6964394C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web-features-1">
            <a:extLst xmlns:a="http://schemas.openxmlformats.org/drawingml/2006/main">
              <a:ext uri="{FF2B5EF4-FFF2-40B4-BE49-F238E27FC236}">
                <a16:creationId xmlns:a16="http://schemas.microsoft.com/office/drawing/2014/main" id="{737C1530-D43A-4C36-A3C6-CE2A5E78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Manage subjects, sections, schedules, and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29BCD-BC2B-4BE2-9BCC-7CDC58C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web-features-2">
            <a:extLst xmlns:a="http://schemas.openxmlformats.org/drawingml/2006/main">
              <a:ext uri="{FF2B5EF4-FFF2-40B4-BE49-F238E27FC236}">
                <a16:creationId xmlns:a16="http://schemas.microsoft.com/office/drawing/2014/main" id="{6B1C2CBF-E258-453C-9D1D-A23A0222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See summaries, filters, and exports at a glance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60F15-86C4-4476-9ECD-DAE38217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web-features-3">
            <a:extLst xmlns:a="http://schemas.openxmlformats.org/drawingml/2006/main">
              <a:ext uri="{FF2B5EF4-FFF2-40B4-BE49-F238E27FC236}">
                <a16:creationId xmlns:a16="http://schemas.microsoft.com/office/drawing/2014/main" id="{C1D6120D-FC16-4C70-9B15-AF683B2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Review disputes and session history in one 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A71D0-0E37-451F-8BCD-A5CFB219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1616"/>
                </a:solidFill>
              </a:defRPr>
            </a:pPr>
            <a:r>
              <a:rPr sz="2175" b="1">
                <a:solidFill>
                  <a:srgbClr val="161616"/>
                </a:solidFill>
              </a:rPr>
              <a:t>Student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7F9F3-6208-46C3-90E0-21FEDF05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mobile-features-1">
            <a:extLst xmlns:a="http://schemas.openxmlformats.org/drawingml/2006/main">
              <a:ext uri="{FF2B5EF4-FFF2-40B4-BE49-F238E27FC236}">
                <a16:creationId xmlns:a16="http://schemas.microsoft.com/office/drawing/2014/main" id="{DAE305C1-CAD9-4C88-8C5C-85BC5B06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Scan QR codes from a clean camera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519E0-1E5B-4C14-8CCB-A427C04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mobile-features-2">
            <a:extLst xmlns:a="http://schemas.openxmlformats.org/drawingml/2006/main">
              <a:ext uri="{FF2B5EF4-FFF2-40B4-BE49-F238E27FC236}">
                <a16:creationId xmlns:a16="http://schemas.microsoft.com/office/drawing/2014/main" id="{C3C776A1-1887-4666-BCA5-642F27BC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View schedules, attendance history, and a digital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210B8-AC07-4756-8202-1D1BA55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62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00"/>
          </a:solidFill>
          <a:ln xmlns:a="http://schemas.openxmlformats.org/drawingml/2006/main" w="9525">
            <a:solidFill>
              <a:srgbClr val="FFD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mobile-features-3">
            <a:extLst xmlns:a="http://schemas.openxmlformats.org/drawingml/2006/main">
              <a:ext uri="{FF2B5EF4-FFF2-40B4-BE49-F238E27FC236}">
                <a16:creationId xmlns:a16="http://schemas.microsoft.com/office/drawing/2014/main" id="{ABF8314E-B1C0-4C4F-8B39-151D90AE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</a:defRPr>
            </a:pPr>
            <a:r>
              <a:rPr sz="1275" b="0">
                <a:solidFill>
                  <a:srgbClr val="161616"/>
                </a:solidFill>
              </a:rPr>
              <a:t>Use the app for the everyday class routine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EBD17-BCB7-4FEA-8CA5-6DC183F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4A0A0B"/>
          </a:solidFill>
          <a:ln xmlns:a="http://schemas.openxmlformats.org/drawingml/2006/main" w="0">
            <a:solidFill>
              <a:srgbClr val="4A0A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62F34-C165-4EC4-9DAA-E7ABA9A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26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experience changes by role, but the source of truth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1399362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A0A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5473F-E57E-4734-ABE7-EF40188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What Polycheck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0AF7-B7C6-4216-95BF-24B33729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>
                    <a:alpha val="88000"/>
                  </a:srgbClr>
                </a:solidFill>
              </a:defRPr>
            </a:pPr>
            <a:r>
              <a:rPr sz="1650" b="0">
                <a:solidFill>
                  <a:srgbClr val="FFFFFF">
                    <a:alpha val="88000"/>
                  </a:srgbClr>
                </a:solidFill>
              </a:rPr>
              <a:t>It turns attendance into a verified process that works in the room, survives poor connectivity, and leaves a useful trail afterward.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C6097-81DB-4700-ABDE-83427C7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971800" cy="22098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7D2BA-61C5-4686-B5FE-D9E6A512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7"/>
          </a:solidFill>
          <a:ln xmlns:a="http://schemas.openxmlformats.org/drawingml/2006/main" w="9525">
            <a:solidFill>
              <a:srgbClr val="FFF6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0A0B"/>
                </a:solidFill>
              </a:defRPr>
            </a:pPr>
            <a:r>
              <a:rPr sz="975" b="1">
                <a:solidFill>
                  <a:srgbClr val="4A0A0B"/>
                </a:solidFill>
              </a:rPr>
              <a:t>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436B8-ADE2-4143-A789-5F4FEC7C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Faster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F4AF0-9299-4B8D-8132-171565F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86000"/>
                  </a:srgbClr>
                </a:solidFill>
              </a:defRPr>
            </a:pPr>
            <a:r>
              <a:rPr sz="1275" b="0">
                <a:solidFill>
                  <a:srgbClr val="FFFFFF">
                    <a:alpha val="86000"/>
                  </a:srgbClr>
                </a:solidFill>
              </a:rPr>
              <a:t>Less time spent on manual roll call and fewer delays at the start of session.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D1F3F-6F81-4ACF-961D-7CC5B1A5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971800" cy="22098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816C4-F9BD-40B2-BE34-91E4A99F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113"/>
          </a:solidFill>
          <a:ln xmlns:a="http://schemas.openxmlformats.org/drawingml/2006/main" w="9525">
            <a:solidFill>
              <a:srgbClr val="7B11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DD626-F14C-443B-AA66-1E1F9302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Stronger 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341DB-39C2-4548-B875-1452B77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86000"/>
                  </a:srgbClr>
                </a:solidFill>
              </a:defRPr>
            </a:pPr>
            <a:r>
              <a:rPr sz="1275" b="0">
                <a:solidFill>
                  <a:srgbClr val="FFFFFF">
                    <a:alpha val="86000"/>
                  </a:srgbClr>
                </a:solidFill>
              </a:rPr>
              <a:t>QR signing, geolocation checks, and duplicate protection reduce proxy attendance.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04624-D168-4DC9-99C3-C7D0382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71800" cy="22098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810C-65FE-4315-8E6A-3F9EA207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E4"/>
          </a:solidFill>
          <a:ln xmlns:a="http://schemas.openxmlformats.org/drawingml/2006/main" w="9525">
            <a:solidFill>
              <a:srgbClr val="F6E7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0A0B"/>
                </a:solidFill>
              </a:defRPr>
            </a:pPr>
            <a:r>
              <a:rPr sz="975" b="1">
                <a:solidFill>
                  <a:srgbClr val="4A0A0B"/>
                </a:solidFill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87D2D-15C1-49B9-9452-5ED5DBF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Better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CC7D5-B1C5-4F71-9AD1-16FEF2E7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86000"/>
                  </a:srgbClr>
                </a:solidFill>
              </a:defRPr>
            </a:pPr>
            <a:r>
              <a:rPr sz="1275" b="0">
                <a:solidFill>
                  <a:srgbClr val="FFFFFF">
                    <a:alpha val="86000"/>
                  </a:srgbClr>
                </a:solidFill>
              </a:rPr>
              <a:t>Attendance data, disputes, and exports are available when teachers and admins need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D7DB3-CFEE-436A-BEB8-A38D0698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F00"/>
                </a:solidFill>
              </a:defRPr>
            </a:pPr>
            <a:r>
              <a:rPr sz="1800" b="1">
                <a:solidFill>
                  <a:srgbClr val="FFDF00"/>
                </a:solidFill>
              </a:rPr>
              <a:t>Polycheck is attendance infrastructure, not just a QR code.</a:t>
            </a:r>
          </a:p>
        </p:txBody>
      </p:sp>
    </p:spTree>
    <p:extLst>
      <p:ext uri="{BB962C8B-B14F-4D97-AF65-F5344CB8AC3E}">
        <p14:creationId xmlns:p14="http://schemas.microsoft.com/office/powerpoint/2010/main" val="798166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2026-07-13T19:41:42.6310000Z</dcterms:created>
  <dcterms:modified xsi:type="dcterms:W3CDTF">2026-07-13T19:41:42.6310000Z</dcterms:modified>
</coreProperties>
</file>